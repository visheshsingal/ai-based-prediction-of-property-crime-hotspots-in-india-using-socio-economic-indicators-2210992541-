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2"/>
  </p:notesMasterIdLst>
  <p:sldIdLst>
    <p:sldId id="256" r:id="rId2"/>
    <p:sldId id="281" r:id="rId3"/>
    <p:sldId id="257" r:id="rId4"/>
    <p:sldId id="258" r:id="rId5"/>
    <p:sldId id="282" r:id="rId6"/>
    <p:sldId id="284" r:id="rId7"/>
    <p:sldId id="285" r:id="rId8"/>
    <p:sldId id="286" r:id="rId9"/>
    <p:sldId id="287" r:id="rId10"/>
    <p:sldId id="280" r:id="rId11"/>
  </p:sldIdLst>
  <p:sldSz cx="9144000" cy="6858000" type="screen4x3"/>
  <p:notesSz cx="7559675" cy="10691813"/>
  <p:embeddedFontLst>
    <p:embeddedFont>
      <p:font typeface="Lato" panose="020F0502020204030203" pitchFamily="34" charset="0"/>
      <p:regular r:id="rId13"/>
      <p:bold r:id="rId14"/>
      <p:italic r:id="rId15"/>
      <p:boldItalic r:id="rId16"/>
    </p:embeddedFont>
    <p:embeddedFont>
      <p:font typeface="Poppins" panose="000005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1" d="100"/>
          <a:sy n="91" d="100"/>
        </p:scale>
        <p:origin x="1214" y="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e67ccfa410_2_1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e67ccfa410_2_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7"/>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0"/>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1"/>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2"/>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3"/>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3"/>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pic>
        <p:nvPicPr>
          <p:cNvPr id="13" name="Google Shape;13;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pic>
        <p:nvPicPr>
          <p:cNvPr id="19" name="Google Shape;19;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sp>
        <p:nvSpPr>
          <p:cNvPr id="25" name="Google Shape;25;p1"/>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p:nvPr/>
        </p:nvSpPr>
        <p:spPr>
          <a:xfrm>
            <a:off x="-1" y="1079710"/>
            <a:ext cx="9144000" cy="6017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Project Presentation of Industry Oriented Hands-on Experience (22CS422)</a:t>
            </a:r>
            <a:endParaRPr dirty="0"/>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On</a:t>
            </a:r>
            <a:endParaRPr dirty="0"/>
          </a:p>
          <a:p>
            <a:pPr algn="ctr"/>
            <a:r>
              <a:rPr lang="en-US" sz="2400" b="1" dirty="0">
                <a:latin typeface="Times New Roman" panose="02020603050405020304" pitchFamily="18" charset="0"/>
                <a:cs typeface="Times New Roman" panose="02020603050405020304" pitchFamily="18" charset="0"/>
              </a:rPr>
              <a:t>AI-Based Prediction of Property Crime Hotspots in India</a:t>
            </a:r>
            <a:endParaRPr lang="en-IN"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Using Socio-Economic Indicators</a:t>
            </a:r>
            <a:endParaRPr lang="en-IN" sz="2400" b="1" dirty="0">
              <a:latin typeface="Times New Roman" panose="02020603050405020304" pitchFamily="18" charset="0"/>
              <a:cs typeface="Times New Roman" panose="02020603050405020304" pitchFamily="18" charset="0"/>
            </a:endParaRPr>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FAD3A1DF-EB4B-A440-6CC2-7F732BAA2ABC}"/>
              </a:ext>
            </a:extLst>
          </p:cNvPr>
          <p:cNvSpPr txBox="1"/>
          <p:nvPr/>
        </p:nvSpPr>
        <p:spPr>
          <a:xfrm>
            <a:off x="840996" y="4599557"/>
            <a:ext cx="7462007" cy="1815882"/>
          </a:xfrm>
          <a:prstGeom prst="rect">
            <a:avLst/>
          </a:prstGeom>
          <a:noFill/>
        </p:spPr>
        <p:txBody>
          <a:bodyPr wrap="square" rtlCol="0">
            <a:spAutoFit/>
          </a:bodyPr>
          <a:lstStyle/>
          <a:p>
            <a:pPr algn="ctr"/>
            <a:r>
              <a:rPr lang="en-US" sz="1800" b="1" dirty="0">
                <a:latin typeface="Times New Roman" panose="02020603050405020304" pitchFamily="18" charset="0"/>
                <a:cs typeface="Times New Roman" panose="02020603050405020304" pitchFamily="18" charset="0"/>
              </a:rPr>
              <a:t>Supervised By </a:t>
            </a:r>
            <a:endParaRPr lang="en-IN" sz="1800" b="1" dirty="0">
              <a:latin typeface="Times New Roman" panose="02020603050405020304" pitchFamily="18" charset="0"/>
              <a:cs typeface="Times New Roman" panose="02020603050405020304" pitchFamily="18" charset="0"/>
            </a:endParaRPr>
          </a:p>
          <a:p>
            <a:pPr algn="ctr"/>
            <a:r>
              <a:rPr lang="en-IN" sz="1800" dirty="0">
                <a:latin typeface="Times New Roman" panose="02020603050405020304" pitchFamily="18" charset="0"/>
                <a:cs typeface="Times New Roman" panose="02020603050405020304" pitchFamily="18" charset="0"/>
              </a:rPr>
              <a:t>Dr. Gurpreet Singh</a:t>
            </a:r>
          </a:p>
          <a:p>
            <a:pPr algn="ctr"/>
            <a:r>
              <a:rPr lang="en-IN" sz="1800" dirty="0">
                <a:latin typeface="Times New Roman" panose="02020603050405020304" pitchFamily="18" charset="0"/>
                <a:cs typeface="Times New Roman" panose="02020603050405020304" pitchFamily="18" charset="0"/>
              </a:rPr>
              <a:t>Associate Professor </a:t>
            </a:r>
          </a:p>
          <a:p>
            <a:pPr algn="ctr"/>
            <a:endParaRPr lang="en-IN" sz="1800"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Department of Computer Science and Engineering</a:t>
            </a:r>
          </a:p>
          <a:p>
            <a:pPr algn="ctr"/>
            <a:r>
              <a:rPr lang="en-US" sz="2000" b="1" dirty="0">
                <a:latin typeface="Times New Roman" panose="02020603050405020304" pitchFamily="18" charset="0"/>
                <a:cs typeface="Times New Roman" panose="02020603050405020304" pitchFamily="18" charset="0"/>
              </a:rPr>
              <a:t>Chitkara University, Punjab</a:t>
            </a:r>
          </a:p>
        </p:txBody>
      </p:sp>
      <p:graphicFrame>
        <p:nvGraphicFramePr>
          <p:cNvPr id="4" name="Table 3">
            <a:extLst>
              <a:ext uri="{FF2B5EF4-FFF2-40B4-BE49-F238E27FC236}">
                <a16:creationId xmlns:a16="http://schemas.microsoft.com/office/drawing/2014/main" id="{470018EB-E1A9-BDD3-EB14-DB09A364A900}"/>
              </a:ext>
            </a:extLst>
          </p:cNvPr>
          <p:cNvGraphicFramePr>
            <a:graphicFrameLocks noGrp="1"/>
          </p:cNvGraphicFramePr>
          <p:nvPr>
            <p:extLst>
              <p:ext uri="{D42A27DB-BD31-4B8C-83A1-F6EECF244321}">
                <p14:modId xmlns:p14="http://schemas.microsoft.com/office/powerpoint/2010/main" val="2265320185"/>
              </p:ext>
            </p:extLst>
          </p:nvPr>
        </p:nvGraphicFramePr>
        <p:xfrm>
          <a:off x="1523999" y="3209022"/>
          <a:ext cx="6096000" cy="7416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409477026"/>
                    </a:ext>
                  </a:extLst>
                </a:gridCol>
                <a:gridCol w="3048000">
                  <a:extLst>
                    <a:ext uri="{9D8B030D-6E8A-4147-A177-3AD203B41FA5}">
                      <a16:colId xmlns:a16="http://schemas.microsoft.com/office/drawing/2014/main" val="1976200503"/>
                    </a:ext>
                  </a:extLst>
                </a:gridCol>
              </a:tblGrid>
              <a:tr h="370840">
                <a:tc>
                  <a:txBody>
                    <a:bodyPr/>
                    <a:lstStyle/>
                    <a:p>
                      <a:r>
                        <a:rPr lang="en-IN" dirty="0"/>
                        <a:t>Name</a:t>
                      </a:r>
                    </a:p>
                  </a:txBody>
                  <a:tcPr/>
                </a:tc>
                <a:tc>
                  <a:txBody>
                    <a:bodyPr/>
                    <a:lstStyle/>
                    <a:p>
                      <a:r>
                        <a:rPr lang="en-IN" dirty="0"/>
                        <a:t>Roll Number</a:t>
                      </a:r>
                    </a:p>
                  </a:txBody>
                  <a:tcPr/>
                </a:tc>
                <a:extLst>
                  <a:ext uri="{0D108BD9-81ED-4DB2-BD59-A6C34878D82A}">
                    <a16:rowId xmlns:a16="http://schemas.microsoft.com/office/drawing/2014/main" val="852731239"/>
                  </a:ext>
                </a:extLst>
              </a:tr>
              <a:tr h="370840">
                <a:tc>
                  <a:txBody>
                    <a:bodyPr/>
                    <a:lstStyle/>
                    <a:p>
                      <a:r>
                        <a:rPr lang="en-IN" dirty="0"/>
                        <a:t>VISHESH SINGAL</a:t>
                      </a:r>
                    </a:p>
                  </a:txBody>
                  <a:tcPr/>
                </a:tc>
                <a:tc>
                  <a:txBody>
                    <a:bodyPr/>
                    <a:lstStyle/>
                    <a:p>
                      <a:r>
                        <a:rPr lang="en-IN" dirty="0"/>
                        <a:t>2210992541</a:t>
                      </a:r>
                    </a:p>
                  </a:txBody>
                  <a:tcPr/>
                </a:tc>
                <a:extLst>
                  <a:ext uri="{0D108BD9-81ED-4DB2-BD59-A6C34878D82A}">
                    <a16:rowId xmlns:a16="http://schemas.microsoft.com/office/drawing/2014/main" val="162929272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4CAD8-E1E9-05EB-DE0E-5A4288FF3ABF}"/>
              </a:ext>
            </a:extLst>
          </p:cNvPr>
          <p:cNvSpPr>
            <a:spLocks noGrp="1"/>
          </p:cNvSpPr>
          <p:nvPr>
            <p:ph type="title"/>
          </p:nvPr>
        </p:nvSpPr>
        <p:spPr>
          <a:xfrm>
            <a:off x="83890" y="0"/>
            <a:ext cx="1895912" cy="893428"/>
          </a:xfrm>
        </p:spPr>
        <p:txBody>
          <a:bodyPr/>
          <a:lstStyle/>
          <a:p>
            <a:r>
              <a:rPr lang="en-US" sz="3000" dirty="0">
                <a:latin typeface="Times New Roman" panose="02020603050405020304" pitchFamily="18" charset="0"/>
                <a:cs typeface="Times New Roman" panose="02020603050405020304" pitchFamily="18" charset="0"/>
              </a:rPr>
              <a:t> Content</a:t>
            </a:r>
            <a:endParaRPr lang="en-IN" sz="3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89696FF-B9C5-B56A-9A1B-50DCA99CAB71}"/>
              </a:ext>
            </a:extLst>
          </p:cNvPr>
          <p:cNvSpPr>
            <a:spLocks noGrp="1"/>
          </p:cNvSpPr>
          <p:nvPr>
            <p:ph type="body" idx="1"/>
          </p:nvPr>
        </p:nvSpPr>
        <p:spPr>
          <a:xfrm>
            <a:off x="457200" y="1604520"/>
            <a:ext cx="6589552" cy="3005230"/>
          </a:xfrm>
        </p:spPr>
        <p:txBody>
          <a:bodyPr>
            <a:normAutofit fontScale="62500" lnSpcReduction="20000"/>
          </a:bodyPr>
          <a:lstStyle/>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Problem Statement - Research Gap</a:t>
            </a:r>
          </a:p>
          <a:p>
            <a:r>
              <a:rPr lang="en-US" dirty="0">
                <a:latin typeface="Times New Roman" panose="02020603050405020304" pitchFamily="18" charset="0"/>
                <a:cs typeface="Times New Roman" panose="02020603050405020304" pitchFamily="18" charset="0"/>
              </a:rPr>
              <a:t>Approach </a:t>
            </a:r>
          </a:p>
          <a:p>
            <a:r>
              <a:rPr lang="en-US" dirty="0">
                <a:latin typeface="Times New Roman" panose="02020603050405020304" pitchFamily="18" charset="0"/>
                <a:cs typeface="Times New Roman" panose="02020603050405020304" pitchFamily="18" charset="0"/>
              </a:rPr>
              <a:t>Dataset / Models</a:t>
            </a:r>
          </a:p>
          <a:p>
            <a:r>
              <a:rPr lang="en-US" dirty="0">
                <a:latin typeface="Times New Roman" panose="02020603050405020304" pitchFamily="18" charset="0"/>
                <a:cs typeface="Times New Roman" panose="02020603050405020304" pitchFamily="18" charset="0"/>
              </a:rPr>
              <a:t>Objective </a:t>
            </a:r>
          </a:p>
          <a:p>
            <a:r>
              <a:rPr lang="en-US" dirty="0">
                <a:latin typeface="Times New Roman" panose="02020603050405020304" pitchFamily="18" charset="0"/>
                <a:cs typeface="Times New Roman" panose="02020603050405020304" pitchFamily="18" charset="0"/>
              </a:rPr>
              <a:t>Baseline</a:t>
            </a:r>
          </a:p>
          <a:p>
            <a:r>
              <a:rPr lang="en-US" dirty="0">
                <a:latin typeface="Times New Roman" panose="02020603050405020304" pitchFamily="18" charset="0"/>
                <a:cs typeface="Times New Roman" panose="02020603050405020304" pitchFamily="18" charset="0"/>
              </a:rPr>
              <a:t>Major Findings - Significance</a:t>
            </a:r>
          </a:p>
          <a:p>
            <a:r>
              <a:rPr lang="en-US" dirty="0">
                <a:latin typeface="Times New Roman" panose="02020603050405020304" pitchFamily="18" charset="0"/>
                <a:cs typeface="Times New Roman" panose="02020603050405020304" pitchFamily="18" charset="0"/>
              </a:rPr>
              <a:t>Key Features</a:t>
            </a:r>
          </a:p>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4171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1774271" y="-46139"/>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000" b="1" i="0" u="none" strike="noStrike" cap="none" dirty="0">
                <a:solidFill>
                  <a:schemeClr val="dk1"/>
                </a:solidFill>
                <a:latin typeface="Times New Roman"/>
                <a:ea typeface="Times New Roman"/>
                <a:cs typeface="Times New Roman"/>
                <a:sym typeface="Times New Roman"/>
              </a:rPr>
              <a:t>Introduction</a:t>
            </a:r>
            <a:endParaRPr sz="3000" b="1" i="0" u="none" strike="noStrike" cap="none" dirty="0">
              <a:solidFill>
                <a:srgbClr val="000000"/>
              </a:solidFill>
              <a:latin typeface="Times New Roman"/>
              <a:ea typeface="Times New Roman"/>
              <a:cs typeface="Times New Roman"/>
              <a:sym typeface="Times New Roman"/>
            </a:endParaRPr>
          </a:p>
        </p:txBody>
      </p:sp>
      <p:sp>
        <p:nvSpPr>
          <p:cNvPr id="90" name="Google Shape;90;p15"/>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3</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15"/>
          <p:cNvSpPr txBox="1"/>
          <p:nvPr/>
        </p:nvSpPr>
        <p:spPr>
          <a:xfrm>
            <a:off x="571500" y="2266950"/>
            <a:ext cx="5600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92" name="Google Shape;92;p15"/>
          <p:cNvSpPr txBox="1"/>
          <p:nvPr/>
        </p:nvSpPr>
        <p:spPr>
          <a:xfrm>
            <a:off x="278100" y="1536189"/>
            <a:ext cx="8587800" cy="3385512"/>
          </a:xfrm>
          <a:prstGeom prst="rect">
            <a:avLst/>
          </a:prstGeom>
          <a:noFill/>
          <a:ln>
            <a:noFill/>
          </a:ln>
        </p:spPr>
        <p:txBody>
          <a:bodyPr spcFirstLastPara="1" wrap="square" lIns="91425" tIns="91425" rIns="91425" bIns="91425" anchor="t" anchorCtr="0">
            <a:spAutoFit/>
          </a:bodyPr>
          <a:lstStyle/>
          <a:p>
            <a:r>
              <a:rPr lang="en-US" sz="1600" dirty="0">
                <a:latin typeface="Times New Roman" panose="02020603050405020304" pitchFamily="18" charset="0"/>
                <a:cs typeface="Times New Roman" panose="02020603050405020304" pitchFamily="18" charset="0"/>
              </a:rPr>
              <a:t>Property crime—including theft, burglary, robbery, and vehicle theft—forms a major share of reported criminal offences in India. Traditional crime prevention methods are largely reactive, relying on incident reports and manual analysis after crimes occur. This limits the ability of law enforcement agencies to take proactive action.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This project introduces an </a:t>
            </a:r>
            <a:r>
              <a:rPr lang="en-US" sz="1600" b="1" dirty="0">
                <a:latin typeface="Times New Roman" panose="02020603050405020304" pitchFamily="18" charset="0"/>
                <a:cs typeface="Times New Roman" panose="02020603050405020304" pitchFamily="18" charset="0"/>
              </a:rPr>
              <a:t>AI-based crime hotspot prediction system</a:t>
            </a:r>
            <a:r>
              <a:rPr lang="en-US" sz="1600" dirty="0">
                <a:latin typeface="Times New Roman" panose="02020603050405020304" pitchFamily="18" charset="0"/>
                <a:cs typeface="Times New Roman" panose="02020603050405020304" pitchFamily="18" charset="0"/>
              </a:rPr>
              <a:t> that uses </a:t>
            </a:r>
            <a:r>
              <a:rPr lang="en-US" sz="1600" b="1" dirty="0">
                <a:latin typeface="Times New Roman" panose="02020603050405020304" pitchFamily="18" charset="0"/>
                <a:cs typeface="Times New Roman" panose="02020603050405020304" pitchFamily="18" charset="0"/>
              </a:rPr>
              <a:t>Machine Learning</a:t>
            </a:r>
            <a:r>
              <a:rPr lang="en-US" sz="1600" dirty="0">
                <a:latin typeface="Times New Roman" panose="02020603050405020304" pitchFamily="18" charset="0"/>
                <a:cs typeface="Times New Roman" panose="02020603050405020304" pitchFamily="18" charset="0"/>
              </a:rPr>
              <a:t> to identify high-risk regions before incidents escalate. By combining </a:t>
            </a:r>
            <a:r>
              <a:rPr lang="en-US" sz="1600" b="1" dirty="0">
                <a:latin typeface="Times New Roman" panose="02020603050405020304" pitchFamily="18" charset="0"/>
                <a:cs typeface="Times New Roman" panose="02020603050405020304" pitchFamily="18" charset="0"/>
              </a:rPr>
              <a:t>socio-economic indicators</a:t>
            </a:r>
            <a:r>
              <a:rPr lang="en-US" sz="1600" dirty="0">
                <a:latin typeface="Times New Roman" panose="02020603050405020304" pitchFamily="18" charset="0"/>
                <a:cs typeface="Times New Roman" panose="02020603050405020304" pitchFamily="18" charset="0"/>
              </a:rPr>
              <a:t> such as unemployment rate, overall literacy, male literacy, and female literacy with </a:t>
            </a:r>
            <a:r>
              <a:rPr lang="en-US" sz="1600" b="1" dirty="0">
                <a:latin typeface="Times New Roman" panose="02020603050405020304" pitchFamily="18" charset="0"/>
                <a:cs typeface="Times New Roman" panose="02020603050405020304" pitchFamily="18" charset="0"/>
              </a:rPr>
              <a:t>NCRB crime statistics</a:t>
            </a:r>
            <a:r>
              <a:rPr lang="en-US" sz="1600" dirty="0">
                <a:latin typeface="Times New Roman" panose="02020603050405020304" pitchFamily="18" charset="0"/>
                <a:cs typeface="Times New Roman" panose="02020603050405020304" pitchFamily="18" charset="0"/>
              </a:rPr>
              <a:t>, the system predicts crime risk levels across Indian states.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objective is to support </a:t>
            </a:r>
            <a:r>
              <a:rPr lang="en-US" sz="1600" b="1" dirty="0">
                <a:latin typeface="Times New Roman" panose="02020603050405020304" pitchFamily="18" charset="0"/>
                <a:cs typeface="Times New Roman" panose="02020603050405020304" pitchFamily="18" charset="0"/>
              </a:rPr>
              <a:t>data-driven policing, smarter resource allocation, and proactive crime prevention</a:t>
            </a:r>
            <a:r>
              <a:rPr lang="en-US" sz="1600" dirty="0">
                <a:latin typeface="Times New Roman" panose="02020603050405020304" pitchFamily="18" charset="0"/>
                <a:cs typeface="Times New Roman" panose="02020603050405020304" pitchFamily="18" charset="0"/>
              </a:rPr>
              <a:t> through predictive analytics and geospatial visualization. </a:t>
            </a:r>
          </a:p>
          <a:p>
            <a:pPr marL="342900" indent="-342900" algn="just">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p:nvPr/>
        </p:nvSpPr>
        <p:spPr>
          <a:xfrm>
            <a:off x="0" y="0"/>
            <a:ext cx="4949700" cy="837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000" b="0" i="0" u="none" strike="noStrike" cap="none">
              <a:solidFill>
                <a:srgbClr val="000000"/>
              </a:solidFill>
              <a:latin typeface="Times New Roman"/>
              <a:ea typeface="Times New Roman"/>
              <a:cs typeface="Times New Roman"/>
              <a:sym typeface="Times New Roman"/>
            </a:endParaRPr>
          </a:p>
        </p:txBody>
      </p:sp>
      <p:sp>
        <p:nvSpPr>
          <p:cNvPr id="98" name="Google Shape;98;p16"/>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4</a:t>
            </a:fld>
            <a:endParaRPr sz="1200" b="0" i="0" u="none" strike="noStrike" cap="none">
              <a:solidFill>
                <a:schemeClr val="dk1"/>
              </a:solidFill>
              <a:latin typeface="Times New Roman"/>
              <a:ea typeface="Times New Roman"/>
              <a:cs typeface="Times New Roman"/>
              <a:sym typeface="Times New Roman"/>
            </a:endParaRPr>
          </a:p>
        </p:txBody>
      </p:sp>
      <p:sp>
        <p:nvSpPr>
          <p:cNvPr id="99" name="Google Shape;99;p16"/>
          <p:cNvSpPr txBox="1"/>
          <p:nvPr/>
        </p:nvSpPr>
        <p:spPr>
          <a:xfrm>
            <a:off x="848631" y="2907594"/>
            <a:ext cx="1825800" cy="235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27" b="1" i="0" u="none" strike="noStrike" cap="none">
                <a:solidFill>
                  <a:srgbClr val="FFFFFF"/>
                </a:solidFill>
                <a:latin typeface="Poppins"/>
                <a:ea typeface="Poppins"/>
                <a:cs typeface="Poppins"/>
                <a:sym typeface="Poppins"/>
              </a:rPr>
              <a:t>Symmetric Noise</a:t>
            </a:r>
            <a:endParaRPr sz="1018"/>
          </a:p>
        </p:txBody>
      </p:sp>
      <p:sp>
        <p:nvSpPr>
          <p:cNvPr id="100" name="Google Shape;100;p16"/>
          <p:cNvSpPr txBox="1"/>
          <p:nvPr/>
        </p:nvSpPr>
        <p:spPr>
          <a:xfrm>
            <a:off x="848631" y="3503422"/>
            <a:ext cx="33258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a:solidFill>
                  <a:srgbClr val="FFFFFF"/>
                </a:solidFill>
                <a:latin typeface="Lato"/>
                <a:ea typeface="Lato"/>
                <a:cs typeface="Lato"/>
                <a:sym typeface="Lato"/>
              </a:rPr>
              <a:t>Class labels are flipped randomly with uniform probability. Represents random corruption across all classes.</a:t>
            </a:r>
            <a:endParaRPr sz="1018"/>
          </a:p>
        </p:txBody>
      </p:sp>
      <p:sp>
        <p:nvSpPr>
          <p:cNvPr id="101" name="Google Shape;101;p16"/>
          <p:cNvSpPr txBox="1"/>
          <p:nvPr/>
        </p:nvSpPr>
        <p:spPr>
          <a:xfrm>
            <a:off x="5005597" y="2907594"/>
            <a:ext cx="1964100" cy="235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27" b="1" i="0" u="none" strike="noStrike" cap="none">
                <a:solidFill>
                  <a:srgbClr val="FFFFFF"/>
                </a:solidFill>
                <a:latin typeface="Poppins"/>
                <a:ea typeface="Poppins"/>
                <a:cs typeface="Poppins"/>
                <a:sym typeface="Poppins"/>
              </a:rPr>
              <a:t>Asymmetric Noise</a:t>
            </a:r>
            <a:endParaRPr sz="1018"/>
          </a:p>
        </p:txBody>
      </p:sp>
      <p:sp>
        <p:nvSpPr>
          <p:cNvPr id="102" name="Google Shape;102;p16"/>
          <p:cNvSpPr txBox="1"/>
          <p:nvPr/>
        </p:nvSpPr>
        <p:spPr>
          <a:xfrm>
            <a:off x="5005597" y="3503422"/>
            <a:ext cx="33258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a:solidFill>
                  <a:srgbClr val="FFFFFF"/>
                </a:solidFill>
                <a:latin typeface="Lato"/>
                <a:ea typeface="Lato"/>
                <a:cs typeface="Lato"/>
                <a:sym typeface="Lato"/>
              </a:rPr>
              <a:t>Directional or class-dependent corruption. Labels change from one specific class to another, mimicking realistic annotation bias.</a:t>
            </a:r>
            <a:endParaRPr sz="1018"/>
          </a:p>
        </p:txBody>
      </p:sp>
      <p:sp>
        <p:nvSpPr>
          <p:cNvPr id="103" name="Google Shape;103;p16"/>
          <p:cNvSpPr txBox="1"/>
          <p:nvPr/>
        </p:nvSpPr>
        <p:spPr>
          <a:xfrm>
            <a:off x="53085" y="206185"/>
            <a:ext cx="6019500" cy="837600"/>
          </a:xfrm>
          <a:prstGeom prst="rect">
            <a:avLst/>
          </a:prstGeom>
          <a:noFill/>
          <a:ln>
            <a:noFill/>
          </a:ln>
        </p:spPr>
        <p:txBody>
          <a:bodyPr spcFirstLastPara="1" wrap="square" lIns="91425" tIns="45700" rIns="91425" bIns="45700" anchor="ctr" anchorCtr="0">
            <a:noAutofit/>
          </a:bodyPr>
          <a:lstStyle/>
          <a:p>
            <a:pPr lvl="0" algn="ctr"/>
            <a:r>
              <a:rPr lang="en-IN" sz="3000" b="1" dirty="0">
                <a:latin typeface="Times New Roman"/>
                <a:ea typeface="Times New Roman"/>
                <a:cs typeface="Times New Roman"/>
                <a:sym typeface="Times New Roman"/>
              </a:rPr>
              <a:t>Problem Statement - Research Gap</a:t>
            </a:r>
          </a:p>
          <a:p>
            <a:pPr marL="0" marR="0" lvl="0" indent="0" algn="ctr" rtl="0">
              <a:lnSpc>
                <a:spcPct val="100000"/>
              </a:lnSpc>
              <a:spcBef>
                <a:spcPts val="0"/>
              </a:spcBef>
              <a:spcAft>
                <a:spcPts val="0"/>
              </a:spcAft>
              <a:buNone/>
            </a:pPr>
            <a:endParaRPr sz="3000" b="1" i="0" u="none" strike="noStrike" cap="none" dirty="0">
              <a:solidFill>
                <a:srgbClr val="000000"/>
              </a:solidFill>
              <a:latin typeface="Times New Roman"/>
              <a:ea typeface="Times New Roman"/>
              <a:cs typeface="Times New Roman"/>
              <a:sym typeface="Times New Roman"/>
            </a:endParaRPr>
          </a:p>
        </p:txBody>
      </p:sp>
      <p:sp>
        <p:nvSpPr>
          <p:cNvPr id="9" name="Rectangle 7">
            <a:extLst>
              <a:ext uri="{FF2B5EF4-FFF2-40B4-BE49-F238E27FC236}">
                <a16:creationId xmlns:a16="http://schemas.microsoft.com/office/drawing/2014/main" id="{3F6C30DD-F5C7-39CF-0CEF-12B52AE2D7AE}"/>
              </a:ext>
            </a:extLst>
          </p:cNvPr>
          <p:cNvSpPr>
            <a:spLocks noChangeArrowheads="1"/>
          </p:cNvSpPr>
          <p:nvPr/>
        </p:nvSpPr>
        <p:spPr bwMode="auto">
          <a:xfrm>
            <a:off x="120259" y="1373082"/>
            <a:ext cx="890348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latin typeface="Times New Roman" panose="02020603050405020304" pitchFamily="18" charset="0"/>
                <a:cs typeface="Times New Roman" panose="02020603050405020304" pitchFamily="18" charset="0"/>
              </a:rPr>
              <a:t>Property crimes in India continue to rise due to factors such as </a:t>
            </a:r>
            <a:r>
              <a:rPr lang="en-US" sz="1600" b="1" dirty="0">
                <a:latin typeface="Times New Roman" panose="02020603050405020304" pitchFamily="18" charset="0"/>
                <a:cs typeface="Times New Roman" panose="02020603050405020304" pitchFamily="18" charset="0"/>
              </a:rPr>
              <a:t>unemployment, socio-economic inequality, and varying literacy levels</a:t>
            </a:r>
            <a:r>
              <a:rPr lang="en-US" sz="1600" dirty="0">
                <a:latin typeface="Times New Roman" panose="02020603050405020304" pitchFamily="18" charset="0"/>
                <a:cs typeface="Times New Roman" panose="02020603050405020304" pitchFamily="18" charset="0"/>
              </a:rPr>
              <a:t>. Despite the availability of large public datasets, most crime prevention strategies remain </a:t>
            </a:r>
            <a:r>
              <a:rPr lang="en-US" sz="1600" b="1" dirty="0">
                <a:latin typeface="Times New Roman" panose="02020603050405020304" pitchFamily="18" charset="0"/>
                <a:cs typeface="Times New Roman" panose="02020603050405020304" pitchFamily="18" charset="0"/>
              </a:rPr>
              <a:t>reactive</a:t>
            </a:r>
            <a:r>
              <a:rPr lang="en-US" sz="1600" dirty="0">
                <a:latin typeface="Times New Roman" panose="02020603050405020304" pitchFamily="18" charset="0"/>
                <a:cs typeface="Times New Roman" panose="02020603050405020304" pitchFamily="18" charset="0"/>
              </a:rPr>
              <a:t>, where action is taken only after incidents are reported.</a:t>
            </a:r>
          </a:p>
          <a:p>
            <a:r>
              <a:rPr lang="en-US" sz="1600" dirty="0">
                <a:latin typeface="Times New Roman" panose="02020603050405020304" pitchFamily="18" charset="0"/>
                <a:cs typeface="Times New Roman" panose="02020603050405020304" pitchFamily="18" charset="0"/>
              </a:rPr>
              <a:t>Current policing systems face several challenges: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Lack of predictive analysis</a:t>
            </a:r>
            <a:r>
              <a:rPr lang="en-US" sz="1600" dirty="0">
                <a:latin typeface="Times New Roman" panose="02020603050405020304" pitchFamily="18" charset="0"/>
                <a:cs typeface="Times New Roman" panose="02020603050405020304" pitchFamily="18" charset="0"/>
              </a:rPr>
              <a:t> to identify high-risk areas in advance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Manual and time-consuming crime assessment processes</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Inefficient allocation of police resources and surveillance</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Limited use of socio-economic data in crime forecasting</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Difficulty in visualizing regional crime risk patterns clearly</a:t>
            </a:r>
            <a:r>
              <a:rPr lang="en-US" sz="1600" dirty="0">
                <a:latin typeface="Times New Roman" panose="02020603050405020304" pitchFamily="18" charset="0"/>
                <a:cs typeface="Times New Roman" panose="02020603050405020304" pitchFamily="18" charset="0"/>
              </a:rPr>
              <a:t>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There is a need for an </a:t>
            </a:r>
            <a:r>
              <a:rPr lang="en-US" sz="1600" b="1" dirty="0">
                <a:latin typeface="Times New Roman" panose="02020603050405020304" pitchFamily="18" charset="0"/>
                <a:cs typeface="Times New Roman" panose="02020603050405020304" pitchFamily="18" charset="0"/>
              </a:rPr>
              <a:t>intelligent, data-driven system</a:t>
            </a:r>
            <a:r>
              <a:rPr lang="en-US" sz="1600" dirty="0">
                <a:latin typeface="Times New Roman" panose="02020603050405020304" pitchFamily="18" charset="0"/>
                <a:cs typeface="Times New Roman" panose="02020603050405020304" pitchFamily="18" charset="0"/>
              </a:rPr>
              <a:t> that can analyze historical crime trends along with socio-economic indicators to </a:t>
            </a:r>
            <a:r>
              <a:rPr lang="en-US" sz="1600" b="1" dirty="0">
                <a:latin typeface="Times New Roman" panose="02020603050405020304" pitchFamily="18" charset="0"/>
                <a:cs typeface="Times New Roman" panose="02020603050405020304" pitchFamily="18" charset="0"/>
              </a:rPr>
              <a:t>predict potential crime hotspots</a:t>
            </a:r>
            <a:r>
              <a:rPr lang="en-US" sz="1600" dirty="0">
                <a:latin typeface="Times New Roman" panose="02020603050405020304" pitchFamily="18" charset="0"/>
                <a:cs typeface="Times New Roman" panose="02020603050405020304" pitchFamily="18" charset="0"/>
              </a:rPr>
              <a:t>, classify regions into </a:t>
            </a:r>
            <a:r>
              <a:rPr lang="en-US" sz="1600" b="1" dirty="0">
                <a:latin typeface="Times New Roman" panose="02020603050405020304" pitchFamily="18" charset="0"/>
                <a:cs typeface="Times New Roman" panose="02020603050405020304" pitchFamily="18" charset="0"/>
              </a:rPr>
              <a:t>Low / Medium / High risk</a:t>
            </a:r>
            <a:r>
              <a:rPr lang="en-US" sz="1600" dirty="0">
                <a:latin typeface="Times New Roman" panose="02020603050405020304" pitchFamily="18" charset="0"/>
                <a:cs typeface="Times New Roman" panose="02020603050405020304" pitchFamily="18" charset="0"/>
              </a:rPr>
              <a:t>, and assist authorities in </a:t>
            </a:r>
            <a:r>
              <a:rPr lang="en-US" sz="1600" b="1" dirty="0">
                <a:latin typeface="Times New Roman" panose="02020603050405020304" pitchFamily="18" charset="0"/>
                <a:cs typeface="Times New Roman" panose="02020603050405020304" pitchFamily="18" charset="0"/>
              </a:rPr>
              <a:t>proactive decision-making and resource planning</a:t>
            </a:r>
            <a:r>
              <a:rPr lang="en-US" sz="16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79DFF-4520-34B8-D38F-E8916B60C3C9}"/>
              </a:ext>
            </a:extLst>
          </p:cNvPr>
          <p:cNvSpPr>
            <a:spLocks noGrp="1"/>
          </p:cNvSpPr>
          <p:nvPr>
            <p:ph type="title"/>
          </p:nvPr>
        </p:nvSpPr>
        <p:spPr>
          <a:xfrm>
            <a:off x="-1577130" y="-125835"/>
            <a:ext cx="5486040" cy="914040"/>
          </a:xfrm>
        </p:spPr>
        <p:txBody>
          <a:bodyPr/>
          <a:lstStyle/>
          <a:p>
            <a:pPr algn="ctr"/>
            <a:r>
              <a:rPr lang="en-US" sz="3000" b="1" dirty="0">
                <a:latin typeface="Times New Roman" panose="02020603050405020304" pitchFamily="18" charset="0"/>
                <a:cs typeface="Times New Roman" panose="02020603050405020304" pitchFamily="18" charset="0"/>
              </a:rPr>
              <a:t>Approach</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F537B1-ABB2-0434-5595-2409007CE6C4}"/>
              </a:ext>
            </a:extLst>
          </p:cNvPr>
          <p:cNvSpPr>
            <a:spLocks noGrp="1"/>
          </p:cNvSpPr>
          <p:nvPr>
            <p:ph type="body" idx="1"/>
          </p:nvPr>
        </p:nvSpPr>
        <p:spPr>
          <a:xfrm>
            <a:off x="285225" y="1017291"/>
            <a:ext cx="8229240" cy="3977280"/>
          </a:xfrm>
        </p:spPr>
        <p:txBody>
          <a:bodyPr>
            <a:noAutofit/>
          </a:bodyPr>
          <a:lstStyle/>
          <a:p>
            <a:pPr marL="114300" indent="0">
              <a:buNone/>
            </a:pPr>
            <a:r>
              <a:rPr lang="en-US" sz="1600" dirty="0">
                <a:latin typeface="Times New Roman" panose="02020603050405020304" pitchFamily="18" charset="0"/>
                <a:cs typeface="Times New Roman" panose="02020603050405020304" pitchFamily="18" charset="0"/>
              </a:rPr>
              <a:t>To address the problem of reactive crime management, this project follows a Machine Learning–based predictive approach for identifying property crime hotspots in India.</a:t>
            </a:r>
          </a:p>
          <a:p>
            <a:pPr marL="114300" indent="0">
              <a:buNone/>
            </a:pPr>
            <a:r>
              <a:rPr lang="en-US" sz="1600" dirty="0">
                <a:latin typeface="Times New Roman" panose="02020603050405020304" pitchFamily="18" charset="0"/>
                <a:cs typeface="Times New Roman" panose="02020603050405020304" pitchFamily="18" charset="0"/>
              </a:rPr>
              <a:t>Approach Overview</a:t>
            </a:r>
          </a:p>
          <a:p>
            <a:pPr marL="114300" indent="0">
              <a:buNone/>
            </a:pPr>
            <a:r>
              <a:rPr lang="en-US" sz="1600" b="1" dirty="0">
                <a:latin typeface="Times New Roman" panose="02020603050405020304" pitchFamily="18" charset="0"/>
                <a:cs typeface="Times New Roman" panose="02020603050405020304" pitchFamily="18" charset="0"/>
              </a:rPr>
              <a:t>Data Collection</a:t>
            </a:r>
            <a:r>
              <a:rPr lang="en-US" sz="1600" dirty="0">
                <a:latin typeface="Times New Roman" panose="02020603050405020304" pitchFamily="18" charset="0"/>
                <a:cs typeface="Times New Roman" panose="02020603050405020304" pitchFamily="18" charset="0"/>
              </a:rPr>
              <a:t>: Gathered publicly available datasets from NCRB, Census of India, and PLFS (Periodic </a:t>
            </a:r>
            <a:r>
              <a:rPr lang="en-US" sz="1600" dirty="0" err="1">
                <a:latin typeface="Times New Roman" panose="02020603050405020304" pitchFamily="18" charset="0"/>
                <a:cs typeface="Times New Roman" panose="02020603050405020304" pitchFamily="18" charset="0"/>
              </a:rPr>
              <a:t>Labour</a:t>
            </a:r>
            <a:r>
              <a:rPr lang="en-US" sz="1600" dirty="0">
                <a:latin typeface="Times New Roman" panose="02020603050405020304" pitchFamily="18" charset="0"/>
                <a:cs typeface="Times New Roman" panose="02020603050405020304" pitchFamily="18" charset="0"/>
              </a:rPr>
              <a:t> Force Survey).</a:t>
            </a:r>
          </a:p>
          <a:p>
            <a:pPr marL="114300" indent="0">
              <a:buNone/>
            </a:pPr>
            <a:r>
              <a:rPr lang="en-US" sz="1600" b="1" dirty="0">
                <a:latin typeface="Times New Roman" panose="02020603050405020304" pitchFamily="18" charset="0"/>
                <a:cs typeface="Times New Roman" panose="02020603050405020304" pitchFamily="18" charset="0"/>
              </a:rPr>
              <a:t>Feature Selection</a:t>
            </a:r>
            <a:r>
              <a:rPr lang="en-US" sz="1600" dirty="0">
                <a:latin typeface="Times New Roman" panose="02020603050405020304" pitchFamily="18" charset="0"/>
                <a:cs typeface="Times New Roman" panose="02020603050405020304" pitchFamily="18" charset="0"/>
              </a:rPr>
              <a:t>: Selected key socio-economic indicators:</a:t>
            </a:r>
          </a:p>
          <a:p>
            <a:pPr marL="114300" indent="0">
              <a:buNone/>
            </a:pPr>
            <a:r>
              <a:rPr lang="en-US" sz="1600" b="1" dirty="0">
                <a:latin typeface="Times New Roman" panose="02020603050405020304" pitchFamily="18" charset="0"/>
                <a:cs typeface="Times New Roman" panose="02020603050405020304" pitchFamily="18" charset="0"/>
              </a:rPr>
              <a:t>Data Preprocessing</a:t>
            </a:r>
            <a:r>
              <a:rPr lang="en-US" sz="1600" dirty="0">
                <a:latin typeface="Times New Roman" panose="02020603050405020304" pitchFamily="18" charset="0"/>
                <a:cs typeface="Times New Roman" panose="02020603050405020304" pitchFamily="18" charset="0"/>
              </a:rPr>
              <a:t>: Cleaned, standardized, and merged datasets by state-level mapping for consistency.</a:t>
            </a:r>
          </a:p>
          <a:p>
            <a:pPr marL="114300" indent="0">
              <a:buNone/>
            </a:pPr>
            <a:r>
              <a:rPr lang="en-US" sz="1600" b="1" dirty="0">
                <a:latin typeface="Times New Roman" panose="02020603050405020304" pitchFamily="18" charset="0"/>
                <a:cs typeface="Times New Roman" panose="02020603050405020304" pitchFamily="18" charset="0"/>
              </a:rPr>
              <a:t>Risk Categorization</a:t>
            </a:r>
            <a:r>
              <a:rPr lang="en-US" sz="1600" dirty="0">
                <a:latin typeface="Times New Roman" panose="02020603050405020304" pitchFamily="18" charset="0"/>
                <a:cs typeface="Times New Roman" panose="02020603050405020304" pitchFamily="18" charset="0"/>
              </a:rPr>
              <a:t>: Converted crime rates into Low, Medium, and High risk categories using tertile-based classification.</a:t>
            </a:r>
          </a:p>
          <a:p>
            <a:pPr marL="114300" indent="0">
              <a:buNone/>
            </a:pPr>
            <a:r>
              <a:rPr lang="en-US" sz="1600" b="1" dirty="0">
                <a:latin typeface="Times New Roman" panose="02020603050405020304" pitchFamily="18" charset="0"/>
                <a:cs typeface="Times New Roman" panose="02020603050405020304" pitchFamily="18" charset="0"/>
              </a:rPr>
              <a:t>Model Training</a:t>
            </a:r>
            <a:r>
              <a:rPr lang="en-US" sz="1600" dirty="0">
                <a:latin typeface="Times New Roman" panose="02020603050405020304" pitchFamily="18" charset="0"/>
                <a:cs typeface="Times New Roman" panose="02020603050405020304" pitchFamily="18" charset="0"/>
              </a:rPr>
              <a:t>: Applied Random Forest Classifier to learn relationships between socio-economic factors and crime risk.</a:t>
            </a:r>
          </a:p>
          <a:p>
            <a:pPr marL="114300" indent="0">
              <a:buNone/>
            </a:pPr>
            <a:r>
              <a:rPr lang="en-US" sz="1600" b="1" dirty="0">
                <a:latin typeface="Times New Roman" panose="02020603050405020304" pitchFamily="18" charset="0"/>
                <a:cs typeface="Times New Roman" panose="02020603050405020304" pitchFamily="18" charset="0"/>
              </a:rPr>
              <a:t>Model Evaluation</a:t>
            </a:r>
            <a:r>
              <a:rPr lang="en-US" sz="1600" dirty="0">
                <a:latin typeface="Times New Roman" panose="02020603050405020304" pitchFamily="18" charset="0"/>
                <a:cs typeface="Times New Roman" panose="02020603050405020304" pitchFamily="18" charset="0"/>
              </a:rPr>
              <a:t>: Used Stratified 5-Fold Cross Validation to ensure robust and reliable performance measurement.</a:t>
            </a:r>
          </a:p>
          <a:p>
            <a:pPr marL="114300" indent="0">
              <a:buNone/>
            </a:pPr>
            <a:r>
              <a:rPr lang="en-US" sz="1600" b="1" dirty="0">
                <a:latin typeface="Times New Roman" panose="02020603050405020304" pitchFamily="18" charset="0"/>
                <a:cs typeface="Times New Roman" panose="02020603050405020304" pitchFamily="18" charset="0"/>
              </a:rPr>
              <a:t>Visualization</a:t>
            </a:r>
            <a:r>
              <a:rPr lang="en-US" sz="1600" dirty="0">
                <a:latin typeface="Times New Roman" panose="02020603050405020304" pitchFamily="18" charset="0"/>
                <a:cs typeface="Times New Roman" panose="02020603050405020304" pitchFamily="18" charset="0"/>
              </a:rPr>
              <a:t>: Displayed predicted crime hotspots on an interactive geospatial dashboard for easy analysis and decision-making.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7325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13C6F-294A-B8A4-1361-55D6D0BBC0B7}"/>
              </a:ext>
            </a:extLst>
          </p:cNvPr>
          <p:cNvSpPr>
            <a:spLocks noGrp="1"/>
          </p:cNvSpPr>
          <p:nvPr>
            <p:ph type="title"/>
          </p:nvPr>
        </p:nvSpPr>
        <p:spPr>
          <a:xfrm>
            <a:off x="-1681992" y="-37750"/>
            <a:ext cx="5486040" cy="914040"/>
          </a:xfrm>
        </p:spPr>
        <p:txBody>
          <a:bodyPr/>
          <a:lstStyle/>
          <a:p>
            <a:pPr algn="ctr"/>
            <a:r>
              <a:rPr lang="en-US" sz="3000" b="1" dirty="0">
                <a:latin typeface="Times New Roman" panose="02020603050405020304" pitchFamily="18" charset="0"/>
                <a:cs typeface="Times New Roman" panose="02020603050405020304" pitchFamily="18" charset="0"/>
              </a:rPr>
              <a:t>Objective</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BECCB8A-FA84-63CA-11B7-6C7E051DE152}"/>
              </a:ext>
            </a:extLst>
          </p:cNvPr>
          <p:cNvSpPr>
            <a:spLocks noGrp="1"/>
          </p:cNvSpPr>
          <p:nvPr>
            <p:ph type="body" idx="1"/>
          </p:nvPr>
        </p:nvSpPr>
        <p:spPr>
          <a:xfrm>
            <a:off x="318781" y="1268960"/>
            <a:ext cx="8229240" cy="3977280"/>
          </a:xfrm>
        </p:spPr>
        <p:txBody>
          <a:bodyPr>
            <a:noAutofit/>
          </a:bodyPr>
          <a:lstStyle/>
          <a:p>
            <a:pPr marL="114300" indent="0">
              <a:buNone/>
            </a:pPr>
            <a:r>
              <a:rPr lang="en-US" sz="1600" dirty="0">
                <a:latin typeface="Times New Roman" panose="02020603050405020304" pitchFamily="18" charset="0"/>
                <a:cs typeface="Times New Roman" panose="02020603050405020304" pitchFamily="18" charset="0"/>
              </a:rPr>
              <a:t>The main objective of this project is to develop an </a:t>
            </a:r>
            <a:r>
              <a:rPr lang="en-US" sz="1600" b="1" dirty="0">
                <a:latin typeface="Times New Roman" panose="02020603050405020304" pitchFamily="18" charset="0"/>
                <a:cs typeface="Times New Roman" panose="02020603050405020304" pitchFamily="18" charset="0"/>
              </a:rPr>
              <a:t>AI-powered predictive system</a:t>
            </a:r>
            <a:r>
              <a:rPr lang="en-US" sz="1600" dirty="0">
                <a:latin typeface="Times New Roman" panose="02020603050405020304" pitchFamily="18" charset="0"/>
                <a:cs typeface="Times New Roman" panose="02020603050405020304" pitchFamily="18" charset="0"/>
              </a:rPr>
              <a:t> that can identify potential property crime hotspots in India using socio-economic indicators and machine learning techniques.</a:t>
            </a:r>
          </a:p>
          <a:p>
            <a:pPr marL="114300" indent="0">
              <a:buNone/>
            </a:pPr>
            <a:r>
              <a:rPr lang="en-US" sz="1600" b="1" dirty="0">
                <a:latin typeface="Times New Roman" panose="02020603050405020304" pitchFamily="18" charset="0"/>
                <a:cs typeface="Times New Roman" panose="02020603050405020304" pitchFamily="18" charset="0"/>
              </a:rPr>
              <a:t>Specific Objectives</a:t>
            </a:r>
          </a:p>
          <a:p>
            <a:r>
              <a:rPr lang="en-US" sz="1600" b="1" dirty="0">
                <a:latin typeface="Times New Roman" panose="02020603050405020304" pitchFamily="18" charset="0"/>
                <a:cs typeface="Times New Roman" panose="02020603050405020304" pitchFamily="18" charset="0"/>
              </a:rPr>
              <a:t>Analyze</a:t>
            </a:r>
            <a:r>
              <a:rPr lang="en-US" sz="1600" dirty="0">
                <a:latin typeface="Times New Roman" panose="02020603050405020304" pitchFamily="18" charset="0"/>
                <a:cs typeface="Times New Roman" panose="02020603050405020304" pitchFamily="18" charset="0"/>
              </a:rPr>
              <a:t> the relationship between socio-economic factors and property crime patterns. </a:t>
            </a:r>
          </a:p>
          <a:p>
            <a:r>
              <a:rPr lang="en-US" sz="1600" b="1" dirty="0">
                <a:latin typeface="Times New Roman" panose="02020603050405020304" pitchFamily="18" charset="0"/>
                <a:cs typeface="Times New Roman" panose="02020603050405020304" pitchFamily="18" charset="0"/>
              </a:rPr>
              <a:t>Integrate</a:t>
            </a:r>
            <a:r>
              <a:rPr lang="en-US" sz="1600" dirty="0">
                <a:latin typeface="Times New Roman" panose="02020603050405020304" pitchFamily="18" charset="0"/>
                <a:cs typeface="Times New Roman" panose="02020603050405020304" pitchFamily="18" charset="0"/>
              </a:rPr>
              <a:t> multiple public datasets (NCRB, Census, PLFS) into a unified crime prediction dataset. </a:t>
            </a:r>
          </a:p>
          <a:p>
            <a:r>
              <a:rPr lang="en-US" sz="1600" b="1" dirty="0">
                <a:latin typeface="Times New Roman" panose="02020603050405020304" pitchFamily="18" charset="0"/>
                <a:cs typeface="Times New Roman" panose="02020603050405020304" pitchFamily="18" charset="0"/>
              </a:rPr>
              <a:t>Develop</a:t>
            </a:r>
            <a:r>
              <a:rPr lang="en-US" sz="1600" dirty="0">
                <a:latin typeface="Times New Roman" panose="02020603050405020304" pitchFamily="18" charset="0"/>
                <a:cs typeface="Times New Roman" panose="02020603050405020304" pitchFamily="18" charset="0"/>
              </a:rPr>
              <a:t> a Machine Learning model to classify regions into </a:t>
            </a:r>
            <a:r>
              <a:rPr lang="en-US" sz="1600" b="1" dirty="0">
                <a:latin typeface="Times New Roman" panose="02020603050405020304" pitchFamily="18" charset="0"/>
                <a:cs typeface="Times New Roman" panose="02020603050405020304" pitchFamily="18" charset="0"/>
              </a:rPr>
              <a:t>Low, Medium, and High crime risk</a:t>
            </a:r>
            <a:r>
              <a:rPr lang="en-US" sz="1600" dirty="0">
                <a:latin typeface="Times New Roman" panose="02020603050405020304" pitchFamily="18" charset="0"/>
                <a:cs typeface="Times New Roman" panose="02020603050405020304" pitchFamily="18" charset="0"/>
              </a:rPr>
              <a:t> categories. </a:t>
            </a:r>
          </a:p>
          <a:p>
            <a:r>
              <a:rPr lang="en-US" sz="1600" b="1" dirty="0">
                <a:latin typeface="Times New Roman" panose="02020603050405020304" pitchFamily="18" charset="0"/>
                <a:cs typeface="Times New Roman" panose="02020603050405020304" pitchFamily="18" charset="0"/>
              </a:rPr>
              <a:t>Identify</a:t>
            </a:r>
            <a:r>
              <a:rPr lang="en-US" sz="1600" dirty="0">
                <a:latin typeface="Times New Roman" panose="02020603050405020304" pitchFamily="18" charset="0"/>
                <a:cs typeface="Times New Roman" panose="02020603050405020304" pitchFamily="18" charset="0"/>
              </a:rPr>
              <a:t> the most influential factors contributing to crime risk through feature importance analysis. </a:t>
            </a:r>
          </a:p>
          <a:p>
            <a:r>
              <a:rPr lang="en-US" sz="1600" b="1" dirty="0">
                <a:latin typeface="Times New Roman" panose="02020603050405020304" pitchFamily="18" charset="0"/>
                <a:cs typeface="Times New Roman" panose="02020603050405020304" pitchFamily="18" charset="0"/>
              </a:rPr>
              <a:t>Visualize</a:t>
            </a:r>
            <a:r>
              <a:rPr lang="en-US" sz="1600" dirty="0">
                <a:latin typeface="Times New Roman" panose="02020603050405020304" pitchFamily="18" charset="0"/>
                <a:cs typeface="Times New Roman" panose="02020603050405020304" pitchFamily="18" charset="0"/>
              </a:rPr>
              <a:t> predicted crime hotspots using an interactive geospatial dashboard. </a:t>
            </a:r>
          </a:p>
          <a:p>
            <a:r>
              <a:rPr lang="en-US" sz="1600" b="1" dirty="0">
                <a:latin typeface="Times New Roman" panose="02020603050405020304" pitchFamily="18" charset="0"/>
                <a:cs typeface="Times New Roman" panose="02020603050405020304" pitchFamily="18" charset="0"/>
              </a:rPr>
              <a:t>Support</a:t>
            </a:r>
            <a:r>
              <a:rPr lang="en-US" sz="1600" dirty="0">
                <a:latin typeface="Times New Roman" panose="02020603050405020304" pitchFamily="18" charset="0"/>
                <a:cs typeface="Times New Roman" panose="02020603050405020304" pitchFamily="18" charset="0"/>
              </a:rPr>
              <a:t> law enforcement agencies in </a:t>
            </a:r>
            <a:r>
              <a:rPr lang="en-US" sz="1600" b="1" dirty="0">
                <a:latin typeface="Times New Roman" panose="02020603050405020304" pitchFamily="18" charset="0"/>
                <a:cs typeface="Times New Roman" panose="02020603050405020304" pitchFamily="18" charset="0"/>
              </a:rPr>
              <a:t>proactive policing and smarter resource allocation</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100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B8905-E9B9-FE2B-01EE-1F6C0E97C0AD}"/>
              </a:ext>
            </a:extLst>
          </p:cNvPr>
          <p:cNvSpPr>
            <a:spLocks noGrp="1"/>
          </p:cNvSpPr>
          <p:nvPr>
            <p:ph type="title"/>
          </p:nvPr>
        </p:nvSpPr>
        <p:spPr>
          <a:xfrm>
            <a:off x="171974" y="-360"/>
            <a:ext cx="6764594" cy="914040"/>
          </a:xfrm>
        </p:spPr>
        <p:txBody>
          <a:bodyPr/>
          <a:lstStyle/>
          <a:p>
            <a:r>
              <a:rPr lang="en-US" sz="3000" b="1" dirty="0">
                <a:latin typeface="Times New Roman" panose="02020603050405020304" pitchFamily="18" charset="0"/>
                <a:cs typeface="Times New Roman" panose="02020603050405020304" pitchFamily="18" charset="0"/>
              </a:rPr>
              <a:t>Major Findings - Significance</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4CF095-9055-6327-1364-D27B827921E3}"/>
              </a:ext>
            </a:extLst>
          </p:cNvPr>
          <p:cNvSpPr>
            <a:spLocks noGrp="1"/>
          </p:cNvSpPr>
          <p:nvPr>
            <p:ph type="body" idx="1"/>
          </p:nvPr>
        </p:nvSpPr>
        <p:spPr>
          <a:xfrm>
            <a:off x="275889" y="1127959"/>
            <a:ext cx="8229240" cy="3977280"/>
          </a:xfrm>
        </p:spPr>
        <p:txBody>
          <a:bodyPr>
            <a:noAutofit/>
          </a:bodyPr>
          <a:lstStyle/>
          <a:p>
            <a:pPr marL="114300" indent="0">
              <a:buNone/>
            </a:pPr>
            <a:r>
              <a:rPr lang="en-US" sz="1600" dirty="0"/>
              <a:t>The study produced several important insights regarding the prediction of property crime hotspots in India:</a:t>
            </a:r>
          </a:p>
          <a:p>
            <a:r>
              <a:rPr lang="en-US" sz="1600" dirty="0"/>
              <a:t>The </a:t>
            </a:r>
            <a:r>
              <a:rPr lang="en-US" sz="1600" b="1" dirty="0"/>
              <a:t>Random Forest Classifier</a:t>
            </a:r>
            <a:r>
              <a:rPr lang="en-US" sz="1600" dirty="0"/>
              <a:t> achieved an overall prediction accuracy of </a:t>
            </a:r>
            <a:r>
              <a:rPr lang="en-US" sz="1600" b="1" dirty="0"/>
              <a:t>86.67%</a:t>
            </a:r>
            <a:r>
              <a:rPr lang="en-US" sz="1600" dirty="0"/>
              <a:t>, showing strong performance in classifying crime risk levels. </a:t>
            </a:r>
          </a:p>
          <a:p>
            <a:r>
              <a:rPr lang="en-US" sz="1600" b="1" dirty="0"/>
              <a:t>Unemployment Rate</a:t>
            </a:r>
            <a:r>
              <a:rPr lang="en-US" sz="1600" dirty="0"/>
              <a:t> emerged as the </a:t>
            </a:r>
            <a:r>
              <a:rPr lang="en-US" sz="1600" b="1" dirty="0"/>
              <a:t>most influential factor</a:t>
            </a:r>
            <a:r>
              <a:rPr lang="en-US" sz="1600" dirty="0"/>
              <a:t> affecting property crime risk. </a:t>
            </a:r>
          </a:p>
          <a:p>
            <a:r>
              <a:rPr lang="en-US" sz="1600" b="1" dirty="0"/>
              <a:t>Overall Literacy Rate</a:t>
            </a:r>
            <a:r>
              <a:rPr lang="en-US" sz="1600" dirty="0"/>
              <a:t> was identified as the </a:t>
            </a:r>
            <a:r>
              <a:rPr lang="en-US" sz="1600" b="1" dirty="0"/>
              <a:t>second most important predictor</a:t>
            </a:r>
            <a:r>
              <a:rPr lang="en-US" sz="1600" dirty="0"/>
              <a:t>, indicating the strong connection between education and crime trends. </a:t>
            </a:r>
          </a:p>
          <a:p>
            <a:r>
              <a:rPr lang="en-US" sz="1600" b="1" dirty="0"/>
              <a:t>Female Literacy Rate</a:t>
            </a:r>
            <a:r>
              <a:rPr lang="en-US" sz="1600" dirty="0"/>
              <a:t> also showed meaningful influence, highlighting socio-economic disparities as an important factor in crime prediction. </a:t>
            </a:r>
          </a:p>
          <a:p>
            <a:r>
              <a:rPr lang="en-US" sz="1600" dirty="0"/>
              <a:t>The model successfully classified states into </a:t>
            </a:r>
            <a:r>
              <a:rPr lang="en-US" sz="1600" b="1" dirty="0"/>
              <a:t>Low, Medium, and High risk zones</a:t>
            </a:r>
            <a:r>
              <a:rPr lang="en-US" sz="1600" dirty="0"/>
              <a:t>, enabling better regional crime assessment. </a:t>
            </a:r>
          </a:p>
          <a:p>
            <a:r>
              <a:rPr lang="en-US" sz="1600" dirty="0"/>
              <a:t>The </a:t>
            </a:r>
            <a:r>
              <a:rPr lang="en-US" sz="1600" b="1" dirty="0"/>
              <a:t>interactive geospatial dashboard</a:t>
            </a:r>
            <a:r>
              <a:rPr lang="en-US" sz="1600" dirty="0"/>
              <a:t> made hotspot identification simple, visual, and useful for policy planning and policing strategies. </a:t>
            </a:r>
          </a:p>
          <a:p>
            <a:r>
              <a:rPr lang="en-US" sz="1600" dirty="0"/>
              <a:t>Results demonstrate that </a:t>
            </a:r>
            <a:r>
              <a:rPr lang="en-US" sz="1600" b="1" dirty="0"/>
              <a:t>socio-economic indicators alone can provide strong predictive power for crime risk classification</a:t>
            </a:r>
            <a:r>
              <a:rPr lang="en-US" sz="1600" dirty="0"/>
              <a:t>. </a:t>
            </a:r>
          </a:p>
        </p:txBody>
      </p:sp>
    </p:spTree>
    <p:extLst>
      <p:ext uri="{BB962C8B-B14F-4D97-AF65-F5344CB8AC3E}">
        <p14:creationId xmlns:p14="http://schemas.microsoft.com/office/powerpoint/2010/main" val="215874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0624-9CD3-8213-CD2F-4C15D56D0268}"/>
              </a:ext>
            </a:extLst>
          </p:cNvPr>
          <p:cNvSpPr>
            <a:spLocks noGrp="1"/>
          </p:cNvSpPr>
          <p:nvPr>
            <p:ph type="title"/>
          </p:nvPr>
        </p:nvSpPr>
        <p:spPr>
          <a:xfrm>
            <a:off x="-1413545" y="-29361"/>
            <a:ext cx="5486040" cy="914040"/>
          </a:xfrm>
        </p:spPr>
        <p:txBody>
          <a:bodyPr/>
          <a:lstStyle/>
          <a:p>
            <a:pPr algn="ctr"/>
            <a:r>
              <a:rPr lang="en-US" sz="3000" b="1" dirty="0">
                <a:latin typeface="Times New Roman" panose="02020603050405020304" pitchFamily="18" charset="0"/>
                <a:cs typeface="Times New Roman" panose="02020603050405020304" pitchFamily="18" charset="0"/>
              </a:rPr>
              <a:t>Key Features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F3110D7-74D6-E56D-0041-429AB7AFD4F2}"/>
              </a:ext>
            </a:extLst>
          </p:cNvPr>
          <p:cNvSpPr>
            <a:spLocks noGrp="1"/>
          </p:cNvSpPr>
          <p:nvPr>
            <p:ph type="body" idx="1"/>
          </p:nvPr>
        </p:nvSpPr>
        <p:spPr>
          <a:xfrm>
            <a:off x="285226" y="1298322"/>
            <a:ext cx="8229240" cy="3977280"/>
          </a:xfrm>
        </p:spPr>
        <p:txBody>
          <a:bodyPr>
            <a:noAutofit/>
          </a:bodyPr>
          <a:lstStyle/>
          <a:p>
            <a:r>
              <a:rPr lang="en-US" sz="1600" b="1" dirty="0">
                <a:latin typeface="Times New Roman" panose="02020603050405020304" pitchFamily="18" charset="0"/>
                <a:cs typeface="Times New Roman" panose="02020603050405020304" pitchFamily="18" charset="0"/>
              </a:rPr>
              <a:t>AI-Based Crime Prediction</a:t>
            </a:r>
            <a:r>
              <a:rPr lang="en-US" sz="1600" dirty="0">
                <a:latin typeface="Times New Roman" panose="02020603050405020304" pitchFamily="18" charset="0"/>
                <a:cs typeface="Times New Roman" panose="02020603050405020304" pitchFamily="18" charset="0"/>
              </a:rPr>
              <a:t> – Uses Machine Learning to predict property crime risk levels with high accuracy. </a:t>
            </a:r>
          </a:p>
          <a:p>
            <a:r>
              <a:rPr lang="en-US" sz="1600" b="1" dirty="0">
                <a:latin typeface="Times New Roman" panose="02020603050405020304" pitchFamily="18" charset="0"/>
                <a:cs typeface="Times New Roman" panose="02020603050405020304" pitchFamily="18" charset="0"/>
              </a:rPr>
              <a:t>Socio-Economic Data Integration</a:t>
            </a:r>
            <a:r>
              <a:rPr lang="en-US" sz="1600" dirty="0">
                <a:latin typeface="Times New Roman" panose="02020603050405020304" pitchFamily="18" charset="0"/>
                <a:cs typeface="Times New Roman" panose="02020603050405020304" pitchFamily="18" charset="0"/>
              </a:rPr>
              <a:t> – Combines crime statistics with indicators like unemployment and literacy rates for deeper analysis. </a:t>
            </a:r>
          </a:p>
          <a:p>
            <a:r>
              <a:rPr lang="en-US" sz="1600" b="1" dirty="0">
                <a:latin typeface="Times New Roman" panose="02020603050405020304" pitchFamily="18" charset="0"/>
                <a:cs typeface="Times New Roman" panose="02020603050405020304" pitchFamily="18" charset="0"/>
              </a:rPr>
              <a:t>Risk Classification Model</a:t>
            </a:r>
            <a:r>
              <a:rPr lang="en-US" sz="1600" dirty="0">
                <a:latin typeface="Times New Roman" panose="02020603050405020304" pitchFamily="18" charset="0"/>
                <a:cs typeface="Times New Roman" panose="02020603050405020304" pitchFamily="18" charset="0"/>
              </a:rPr>
              <a:t> – Categorizes regions into </a:t>
            </a:r>
            <a:r>
              <a:rPr lang="en-US" sz="1600" b="1" dirty="0">
                <a:latin typeface="Times New Roman" panose="02020603050405020304" pitchFamily="18" charset="0"/>
                <a:cs typeface="Times New Roman" panose="02020603050405020304" pitchFamily="18" charset="0"/>
              </a:rPr>
              <a:t>Low, Medium, and High crime risk</a:t>
            </a:r>
            <a:r>
              <a:rPr lang="en-US" sz="1600" dirty="0">
                <a:latin typeface="Times New Roman" panose="02020603050405020304" pitchFamily="18" charset="0"/>
                <a:cs typeface="Times New Roman" panose="02020603050405020304" pitchFamily="18" charset="0"/>
              </a:rPr>
              <a:t> zones. </a:t>
            </a:r>
          </a:p>
          <a:p>
            <a:r>
              <a:rPr lang="en-US" sz="1600" b="1" dirty="0">
                <a:latin typeface="Times New Roman" panose="02020603050405020304" pitchFamily="18" charset="0"/>
                <a:cs typeface="Times New Roman" panose="02020603050405020304" pitchFamily="18" charset="0"/>
              </a:rPr>
              <a:t>Random Forest Algorithm</a:t>
            </a:r>
            <a:r>
              <a:rPr lang="en-US" sz="1600" dirty="0">
                <a:latin typeface="Times New Roman" panose="02020603050405020304" pitchFamily="18" charset="0"/>
                <a:cs typeface="Times New Roman" panose="02020603050405020304" pitchFamily="18" charset="0"/>
              </a:rPr>
              <a:t> – Robust ensemble learning model that provides accurate and stable predictions. </a:t>
            </a:r>
          </a:p>
          <a:p>
            <a:r>
              <a:rPr lang="en-US" sz="1600" b="1" dirty="0">
                <a:latin typeface="Times New Roman" panose="02020603050405020304" pitchFamily="18" charset="0"/>
                <a:cs typeface="Times New Roman" panose="02020603050405020304" pitchFamily="18" charset="0"/>
              </a:rPr>
              <a:t>Feature Importance Analysis</a:t>
            </a:r>
            <a:r>
              <a:rPr lang="en-US" sz="1600" dirty="0">
                <a:latin typeface="Times New Roman" panose="02020603050405020304" pitchFamily="18" charset="0"/>
                <a:cs typeface="Times New Roman" panose="02020603050405020304" pitchFamily="18" charset="0"/>
              </a:rPr>
              <a:t> – Identifies the major factors contributing to crime occurrence. </a:t>
            </a:r>
          </a:p>
          <a:p>
            <a:r>
              <a:rPr lang="en-US" sz="1600" b="1" dirty="0">
                <a:latin typeface="Times New Roman" panose="02020603050405020304" pitchFamily="18" charset="0"/>
                <a:cs typeface="Times New Roman" panose="02020603050405020304" pitchFamily="18" charset="0"/>
              </a:rPr>
              <a:t>Interactive Geospatial Dashboard</a:t>
            </a:r>
            <a:r>
              <a:rPr lang="en-US" sz="1600" dirty="0">
                <a:latin typeface="Times New Roman" panose="02020603050405020304" pitchFamily="18" charset="0"/>
                <a:cs typeface="Times New Roman" panose="02020603050405020304" pitchFamily="18" charset="0"/>
              </a:rPr>
              <a:t> – Visual representation of predicted hotspots on a map for easy understanding. </a:t>
            </a:r>
          </a:p>
          <a:p>
            <a:r>
              <a:rPr lang="en-US" sz="1600" b="1" dirty="0">
                <a:latin typeface="Times New Roman" panose="02020603050405020304" pitchFamily="18" charset="0"/>
                <a:cs typeface="Times New Roman" panose="02020603050405020304" pitchFamily="18" charset="0"/>
              </a:rPr>
              <a:t>Data-Driven Decision Support</a:t>
            </a:r>
            <a:r>
              <a:rPr lang="en-US" sz="1600" dirty="0">
                <a:latin typeface="Times New Roman" panose="02020603050405020304" pitchFamily="18" charset="0"/>
                <a:cs typeface="Times New Roman" panose="02020603050405020304" pitchFamily="18" charset="0"/>
              </a:rPr>
              <a:t> – Helps authorities in better planning, surveillance, and resource allocation. </a:t>
            </a:r>
          </a:p>
          <a:p>
            <a:r>
              <a:rPr lang="en-US" sz="1600" b="1" dirty="0">
                <a:latin typeface="Times New Roman" panose="02020603050405020304" pitchFamily="18" charset="0"/>
                <a:cs typeface="Times New Roman" panose="02020603050405020304" pitchFamily="18" charset="0"/>
              </a:rPr>
              <a:t>Scalable Framework</a:t>
            </a:r>
            <a:r>
              <a:rPr lang="en-US" sz="1600" dirty="0">
                <a:latin typeface="Times New Roman" panose="02020603050405020304" pitchFamily="18" charset="0"/>
                <a:cs typeface="Times New Roman" panose="02020603050405020304" pitchFamily="18" charset="0"/>
              </a:rPr>
              <a:t> – Can be extended from state-level analysis to district-level or real-time prediction systems in the future. </a:t>
            </a:r>
          </a:p>
        </p:txBody>
      </p:sp>
    </p:spTree>
    <p:extLst>
      <p:ext uri="{BB962C8B-B14F-4D97-AF65-F5344CB8AC3E}">
        <p14:creationId xmlns:p14="http://schemas.microsoft.com/office/powerpoint/2010/main" val="152365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B1F7A-6FD2-2EE0-8510-9F92B9E33F93}"/>
              </a:ext>
            </a:extLst>
          </p:cNvPr>
          <p:cNvSpPr>
            <a:spLocks noGrp="1"/>
          </p:cNvSpPr>
          <p:nvPr>
            <p:ph type="title"/>
          </p:nvPr>
        </p:nvSpPr>
        <p:spPr>
          <a:xfrm>
            <a:off x="-1610686" y="-71306"/>
            <a:ext cx="5486040" cy="914040"/>
          </a:xfrm>
        </p:spPr>
        <p:txBody>
          <a:bodyPr/>
          <a:lstStyle/>
          <a:p>
            <a:pPr algn="ctr"/>
            <a:r>
              <a:rPr lang="en-US" sz="3000" b="1" dirty="0">
                <a:latin typeface="Times New Roman" panose="02020603050405020304" pitchFamily="18" charset="0"/>
                <a:cs typeface="Times New Roman" panose="02020603050405020304" pitchFamily="18" charset="0"/>
              </a:rPr>
              <a:t>Conclusion</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CA244A5-79AD-5E24-213E-FE91D4E091C4}"/>
              </a:ext>
            </a:extLst>
          </p:cNvPr>
          <p:cNvSpPr>
            <a:spLocks noGrp="1"/>
          </p:cNvSpPr>
          <p:nvPr>
            <p:ph type="body" idx="1"/>
          </p:nvPr>
        </p:nvSpPr>
        <p:spPr>
          <a:xfrm>
            <a:off x="373310" y="1336073"/>
            <a:ext cx="8229240" cy="3977280"/>
          </a:xfrm>
        </p:spPr>
        <p:txBody>
          <a:bodyPr>
            <a:noAutofit/>
          </a:bodyPr>
          <a:lstStyle/>
          <a:p>
            <a:pPr marL="114300" indent="0">
              <a:buNone/>
            </a:pPr>
            <a:r>
              <a:rPr lang="en-US" sz="1600" dirty="0">
                <a:latin typeface="Times New Roman" panose="02020603050405020304" pitchFamily="18" charset="0"/>
                <a:cs typeface="Times New Roman" panose="02020603050405020304" pitchFamily="18" charset="0"/>
              </a:rPr>
              <a:t>This project demonstrates how </a:t>
            </a:r>
            <a:r>
              <a:rPr lang="en-US" sz="1600" b="1" dirty="0">
                <a:latin typeface="Times New Roman" panose="02020603050405020304" pitchFamily="18" charset="0"/>
                <a:cs typeface="Times New Roman" panose="02020603050405020304" pitchFamily="18" charset="0"/>
              </a:rPr>
              <a:t>Artificial Intelligence and Machine Learning can be effectively used for predictive crime analysis in India</a:t>
            </a:r>
            <a:r>
              <a:rPr lang="en-US" sz="1600" dirty="0">
                <a:latin typeface="Times New Roman" panose="02020603050405020304" pitchFamily="18" charset="0"/>
                <a:cs typeface="Times New Roman" panose="02020603050405020304" pitchFamily="18" charset="0"/>
              </a:rPr>
              <a:t>. By integrating socio-economic indicators such as unemployment rate and literacy levels with property crime data, the system successfully identifies patterns that influence crime risk across different states. The developed </a:t>
            </a:r>
            <a:r>
              <a:rPr lang="en-US" sz="1600" b="1" dirty="0">
                <a:latin typeface="Times New Roman" panose="02020603050405020304" pitchFamily="18" charset="0"/>
                <a:cs typeface="Times New Roman" panose="02020603050405020304" pitchFamily="18" charset="0"/>
              </a:rPr>
              <a:t>Random Forest–based prediction model achieved strong classification performance</a:t>
            </a:r>
            <a:r>
              <a:rPr lang="en-US" sz="1600" dirty="0">
                <a:latin typeface="Times New Roman" panose="02020603050405020304" pitchFamily="18" charset="0"/>
                <a:cs typeface="Times New Roman" panose="02020603050405020304" pitchFamily="18" charset="0"/>
              </a:rPr>
              <a:t>, proving that data-driven approaches can support more accurate crime forecasting than traditional reactive methods. </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r>
              <a:rPr lang="en-US" sz="1600" dirty="0">
                <a:latin typeface="Times New Roman" panose="02020603050405020304" pitchFamily="18" charset="0"/>
                <a:cs typeface="Times New Roman" panose="02020603050405020304" pitchFamily="18" charset="0"/>
              </a:rPr>
              <a:t>The findings highlight that </a:t>
            </a:r>
            <a:r>
              <a:rPr lang="en-US" sz="1600" b="1" dirty="0">
                <a:latin typeface="Times New Roman" panose="02020603050405020304" pitchFamily="18" charset="0"/>
                <a:cs typeface="Times New Roman" panose="02020603050405020304" pitchFamily="18" charset="0"/>
              </a:rPr>
              <a:t>unemployment and literacy are key socio-economic drivers of property crime</a:t>
            </a:r>
            <a:r>
              <a:rPr lang="en-US" sz="1600" dirty="0">
                <a:latin typeface="Times New Roman" panose="02020603050405020304" pitchFamily="18" charset="0"/>
                <a:cs typeface="Times New Roman" panose="02020603050405020304" pitchFamily="18" charset="0"/>
              </a:rPr>
              <a:t>, making them valuable indicators for predictive policing strategies. Through the use of an </a:t>
            </a:r>
            <a:r>
              <a:rPr lang="en-US" sz="1600" b="1" dirty="0">
                <a:latin typeface="Times New Roman" panose="02020603050405020304" pitchFamily="18" charset="0"/>
                <a:cs typeface="Times New Roman" panose="02020603050405020304" pitchFamily="18" charset="0"/>
              </a:rPr>
              <a:t>interactive geospatial dashboard</a:t>
            </a:r>
            <a:r>
              <a:rPr lang="en-US" sz="1600" dirty="0">
                <a:latin typeface="Times New Roman" panose="02020603050405020304" pitchFamily="18" charset="0"/>
                <a:cs typeface="Times New Roman" panose="02020603050405020304" pitchFamily="18" charset="0"/>
              </a:rPr>
              <a:t>, the predicted crime hotspots can be visualized clearly, enabling policymakers and law enforcement agencies to make informed decisions regarding surveillance, resource allocation, and preventive measures. Overall, this work presents a </a:t>
            </a:r>
            <a:r>
              <a:rPr lang="en-US" sz="1600" b="1" dirty="0">
                <a:latin typeface="Times New Roman" panose="02020603050405020304" pitchFamily="18" charset="0"/>
                <a:cs typeface="Times New Roman" panose="02020603050405020304" pitchFamily="18" charset="0"/>
              </a:rPr>
              <a:t>scalable and practical framework for shifting from reactive policing to proactive crime prevention using AI</a:t>
            </a:r>
            <a:r>
              <a:rPr lang="en-US" sz="1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084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8"/>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dirty="0">
                <a:solidFill>
                  <a:schemeClr val="dk1"/>
                </a:solidFill>
                <a:latin typeface="Times New Roman"/>
                <a:ea typeface="Times New Roman"/>
                <a:cs typeface="Times New Roman"/>
                <a:sym typeface="Times New Roman"/>
              </a:rPr>
              <a:t>Thank You</a:t>
            </a:r>
            <a:endParaRPr sz="5400" b="0" i="0" u="none" strike="noStrike" cap="none" dirty="0">
              <a:solidFill>
                <a:srgbClr val="000000"/>
              </a:solidFill>
              <a:latin typeface="Times New Roman"/>
              <a:ea typeface="Times New Roman"/>
              <a:cs typeface="Times New Roman"/>
              <a:sym typeface="Times New Roman"/>
            </a:endParaRPr>
          </a:p>
        </p:txBody>
      </p:sp>
      <p:sp>
        <p:nvSpPr>
          <p:cNvPr id="270" name="Google Shape;270;p38"/>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10</a:t>
            </a:fld>
            <a:endParaRPr sz="12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1114</Words>
  <Application>Microsoft Office PowerPoint</Application>
  <PresentationFormat>On-screen Show (4:3)</PresentationFormat>
  <Paragraphs>92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vt:lpstr>
      <vt:lpstr>Arial</vt:lpstr>
      <vt:lpstr>Times New Roman</vt:lpstr>
      <vt:lpstr>Lato</vt:lpstr>
      <vt:lpstr>Calibri</vt:lpstr>
      <vt:lpstr>Office Theme</vt:lpstr>
      <vt:lpstr>PowerPoint Presentation</vt:lpstr>
      <vt:lpstr> Content</vt:lpstr>
      <vt:lpstr>PowerPoint Presentation</vt:lpstr>
      <vt:lpstr>PowerPoint Presentation</vt:lpstr>
      <vt:lpstr>Approach</vt:lpstr>
      <vt:lpstr>Objective</vt:lpstr>
      <vt:lpstr>Major Findings - Significance</vt:lpstr>
      <vt:lpstr>Key Features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Gurnoor Dhaliwal</dc:creator>
  <cp:lastModifiedBy>ADMIN</cp:lastModifiedBy>
  <cp:revision>9</cp:revision>
  <dcterms:modified xsi:type="dcterms:W3CDTF">2026-05-02T05:53:20Z</dcterms:modified>
</cp:coreProperties>
</file>